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65BB-0B11-46C4-A2C0-946A043BA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17A9F-21A8-4026-9B04-590256883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1A645-3DE9-49A1-AE5B-E0B42DA9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FBF5-F707-49BE-8F15-29B94C35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2E71B-BDEF-4A9E-8EF6-9F6ACA9D8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290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88DF-BA77-4409-920B-4DCB62EB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C85BF-9AB6-4700-8C8C-483FBFC90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BE8A5-4240-4286-87FF-7984F638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098AB-BA78-48D2-BACB-DC525E3DC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65F7-477F-4558-A0F6-DF6AADA4D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667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8479-F6A9-4940-9698-82F4CC53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AD16C-5E80-4100-B30D-95F1A0DDA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A308-542C-41B7-A2EE-529DA286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F1E53-9B85-4831-B15A-4C4512E9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B7270-DF44-4CF2-AA18-04CA9415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9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DBA2-23BB-4BFB-A52D-F4D544E2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4DCB-69CF-45FE-8589-C6026F01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D7B0C-20F2-4509-A18C-8CCCBB520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1C350-0221-4424-B985-7BBBC330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E2E7E-53A4-49A4-98F6-7302B31F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E9BC7-47C4-4C73-BC2E-2ECF1C2E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88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1F66-31FB-4488-8644-CE65C6DA8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B46CC-AE14-4957-B63E-BB8C2201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4CABD-D9AC-4C33-AAB6-9EEB8330F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0EB46-D4A3-4250-BF77-85BB7C6B8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CF04B-D692-44FD-977C-E998CEE98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B36D7B-D7E9-41BD-82A1-90E85FF9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42395-3534-4CE5-BB9B-93D8F54AC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44497-341B-4212-A340-4E53B971B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5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848DA-B7ED-44DF-8FB1-D10F1903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FCBFFC-E515-4905-9886-B3FB933F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DF207-D5CA-48E0-94B4-C63707BC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41C23-52E4-45EE-B824-B2D1D80B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133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9926D2-D4F4-4F9A-9E2D-73D6335DC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8D94E-70E0-459E-9055-D83C3B75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22F-769E-48C5-98AC-B14601F2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7ADB-81AC-4C42-A163-74592FAA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AEB7-3B12-4FC8-BAAA-44E5727BA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E64CA-99B1-4832-BE35-0D6CA0CE85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7435E-DA0B-44DB-92EE-9E40FF7F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BA4D0-18E0-4CF0-9159-033AF2C7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26D25-DDEE-43F4-9FC1-6FC274DE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678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9FFD-CBBA-49FC-9793-DC39165C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AC022-8D25-4483-8E5F-71A5F557D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B929C-6EC1-47FC-9761-1319DFC1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53EEE-E18E-4655-8EE5-D2B88B0C5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2FD63-24CB-4B2F-B84C-E1504E45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34125-63E0-44D7-8BEC-00D215D7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31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4DE6-2D66-438B-BD61-34ACB8CE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2C5D58-BD05-4C73-974C-8EA82890E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4C1F-77FA-4ACF-B333-F1251902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94808-4BC4-489E-AC4D-55B9AE23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BAFB2-4184-44A0-AC18-8C70468B5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85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9B0AD-391F-438E-9EBE-C11A9C180A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38F05-18B5-43C0-A201-AC2F68946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52F06-6EB8-488E-BAEF-7F00A5A2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60249-18E7-4213-BCEB-D476279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E6E9-E908-4BF8-9F96-7A6FB619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8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F7B62E-16ED-40F8-B655-6A3A1427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B0B34-360F-4E6A-B01C-471C21E54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B69AB-C74F-4031-A14E-B7BB83847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895F8-79D5-43F9-9A0B-D3E2D0BBA791}" type="datetimeFigureOut">
              <a:rPr lang="en-GB" smtClean="0"/>
              <a:t>21/03/2021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1C4A2-506E-4E9C-AAC3-677FCE383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50D45-153B-45CD-9545-07AC24535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B21335-70A0-45CB-9AFB-162FDD44A8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829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332357D-17B6-47F6-824B-280DD641A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467" y="568682"/>
            <a:ext cx="9525000" cy="37052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609119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7B214-F408-41D3-9A07-28A28B0C5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1295102"/>
            <a:ext cx="8154538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4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054271-9B24-4DEA-A24E-432425E97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523734"/>
            <a:ext cx="6916115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15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-fold (10-fold) Cross Validation illustration. Accuracy can be any... |  Download Scientific Diagram">
            <a:extLst>
              <a:ext uri="{FF2B5EF4-FFF2-40B4-BE49-F238E27FC236}">
                <a16:creationId xmlns:a16="http://schemas.microsoft.com/office/drawing/2014/main" id="{90B52DDE-B8A9-4F39-A66E-CCC1998E40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38"/>
          <a:stretch/>
        </p:blipFill>
        <p:spPr bwMode="auto">
          <a:xfrm>
            <a:off x="2847975" y="1690688"/>
            <a:ext cx="6496050" cy="2620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21C169-9F45-4EF1-AFAD-BA252AB4014E}"/>
              </a:ext>
            </a:extLst>
          </p:cNvPr>
          <p:cNvSpPr txBox="1"/>
          <p:nvPr/>
        </p:nvSpPr>
        <p:spPr>
          <a:xfrm>
            <a:off x="4730621" y="1690688"/>
            <a:ext cx="2398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/>
              <a:t>K-fold Cross-Validation (K=10)</a:t>
            </a:r>
          </a:p>
        </p:txBody>
      </p:sp>
    </p:spTree>
    <p:extLst>
      <p:ext uri="{BB962C8B-B14F-4D97-AF65-F5344CB8AC3E}">
        <p14:creationId xmlns:p14="http://schemas.microsoft.com/office/powerpoint/2010/main" val="8826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AE90705-1702-4067-AF75-38B4FACF48D1}"/>
              </a:ext>
            </a:extLst>
          </p:cNvPr>
          <p:cNvGrpSpPr/>
          <p:nvPr/>
        </p:nvGrpSpPr>
        <p:grpSpPr>
          <a:xfrm>
            <a:off x="1539230" y="815297"/>
            <a:ext cx="9113539" cy="5206032"/>
            <a:chOff x="1539230" y="815297"/>
            <a:chExt cx="9113539" cy="5206032"/>
          </a:xfrm>
        </p:grpSpPr>
        <p:pic>
          <p:nvPicPr>
            <p:cNvPr id="5" name="Picture 4" descr="Chart, histogram&#10;&#10;Description automatically generated">
              <a:extLst>
                <a:ext uri="{FF2B5EF4-FFF2-40B4-BE49-F238E27FC236}">
                  <a16:creationId xmlns:a16="http://schemas.microsoft.com/office/drawing/2014/main" id="{7E478E4D-C59D-45C5-8399-9FC5499E9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39230" y="836670"/>
              <a:ext cx="9113539" cy="5184659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7897521-D307-4209-9A7F-E31FF4612012}"/>
                </a:ext>
              </a:extLst>
            </p:cNvPr>
            <p:cNvSpPr/>
            <p:nvPr/>
          </p:nvSpPr>
          <p:spPr>
            <a:xfrm>
              <a:off x="3134995" y="901700"/>
              <a:ext cx="2832152" cy="22730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5CE569-357D-4E2E-94DF-091C60DF8CCD}"/>
                </a:ext>
              </a:extLst>
            </p:cNvPr>
            <p:cNvSpPr txBox="1"/>
            <p:nvPr/>
          </p:nvSpPr>
          <p:spPr>
            <a:xfrm>
              <a:off x="3426870" y="815297"/>
              <a:ext cx="266912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>
                  <a:solidFill>
                    <a:schemeClr val="bg1"/>
                  </a:solidFill>
                </a:rPr>
                <a:t>Train and Val Loss (mse)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3566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D0B52F-9D8E-4C7C-850C-F66EBAC12C0C}"/>
              </a:ext>
            </a:extLst>
          </p:cNvPr>
          <p:cNvSpPr/>
          <p:nvPr/>
        </p:nvSpPr>
        <p:spPr>
          <a:xfrm>
            <a:off x="159679" y="978320"/>
            <a:ext cx="11737046" cy="49013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E4301441-CAFE-4101-9AA8-BC2B0FA9B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121" y="3422229"/>
            <a:ext cx="3934624" cy="2158270"/>
          </a:xfrm>
        </p:spPr>
      </p:pic>
      <p:pic>
        <p:nvPicPr>
          <p:cNvPr id="23" name="Picture 22" descr="Chart&#10;&#10;Description automatically generated with medium confidence">
            <a:extLst>
              <a:ext uri="{FF2B5EF4-FFF2-40B4-BE49-F238E27FC236}">
                <a16:creationId xmlns:a16="http://schemas.microsoft.com/office/drawing/2014/main" id="{5274BD60-7444-4A48-A6F0-E2E036573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627" y="3422229"/>
            <a:ext cx="3798170" cy="2160765"/>
          </a:xfrm>
          <a:prstGeom prst="rect">
            <a:avLst/>
          </a:prstGeom>
        </p:spPr>
      </p:pic>
      <p:pic>
        <p:nvPicPr>
          <p:cNvPr id="24" name="Picture 23" descr="Chart, histogram&#10;&#10;Description automatically generated">
            <a:extLst>
              <a:ext uri="{FF2B5EF4-FFF2-40B4-BE49-F238E27FC236}">
                <a16:creationId xmlns:a16="http://schemas.microsoft.com/office/drawing/2014/main" id="{0EF3DC78-3DD6-49BC-AF44-1F21EA5E8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948" y="1339432"/>
            <a:ext cx="3792485" cy="2080302"/>
          </a:xfrm>
          <a:prstGeom prst="rect">
            <a:avLst/>
          </a:prstGeom>
        </p:spPr>
      </p:pic>
      <p:pic>
        <p:nvPicPr>
          <p:cNvPr id="25" name="Picture 24" descr="Chart, histogram&#10;&#10;Description automatically generated">
            <a:extLst>
              <a:ext uri="{FF2B5EF4-FFF2-40B4-BE49-F238E27FC236}">
                <a16:creationId xmlns:a16="http://schemas.microsoft.com/office/drawing/2014/main" id="{F302157D-1F27-48B9-A084-45408E7C6B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02" y="1339432"/>
            <a:ext cx="3792484" cy="208030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F4B5AAD-1DA8-4920-AF0D-A89E2F92FF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9" y="3423998"/>
            <a:ext cx="3935948" cy="215899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4D702E2-EAA1-4BB0-A4D8-5D8E4FD0F70C}"/>
              </a:ext>
            </a:extLst>
          </p:cNvPr>
          <p:cNvSpPr txBox="1"/>
          <p:nvPr/>
        </p:nvSpPr>
        <p:spPr>
          <a:xfrm>
            <a:off x="3828045" y="1517230"/>
            <a:ext cx="68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Fold 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DAF76E-743E-4EF7-A680-729E732066FF}"/>
              </a:ext>
            </a:extLst>
          </p:cNvPr>
          <p:cNvSpPr txBox="1"/>
          <p:nvPr/>
        </p:nvSpPr>
        <p:spPr>
          <a:xfrm>
            <a:off x="7841410" y="1517230"/>
            <a:ext cx="68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Fold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2C6ADC-3DA0-41CD-8B96-1DA7AF2D1474}"/>
              </a:ext>
            </a:extLst>
          </p:cNvPr>
          <p:cNvSpPr txBox="1"/>
          <p:nvPr/>
        </p:nvSpPr>
        <p:spPr>
          <a:xfrm>
            <a:off x="2276802" y="3534387"/>
            <a:ext cx="68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Fold 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43612C-8D80-479F-84C2-5B6DB015F78C}"/>
              </a:ext>
            </a:extLst>
          </p:cNvPr>
          <p:cNvSpPr txBox="1"/>
          <p:nvPr/>
        </p:nvSpPr>
        <p:spPr>
          <a:xfrm>
            <a:off x="9490558" y="3522719"/>
            <a:ext cx="68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Fold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DC4CB8-CF9B-4B44-A505-760EF6F6A0DE}"/>
              </a:ext>
            </a:extLst>
          </p:cNvPr>
          <p:cNvSpPr txBox="1"/>
          <p:nvPr/>
        </p:nvSpPr>
        <p:spPr>
          <a:xfrm>
            <a:off x="5724287" y="3534387"/>
            <a:ext cx="689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Fold 4</a:t>
            </a:r>
          </a:p>
        </p:txBody>
      </p:sp>
    </p:spTree>
    <p:extLst>
      <p:ext uri="{BB962C8B-B14F-4D97-AF65-F5344CB8AC3E}">
        <p14:creationId xmlns:p14="http://schemas.microsoft.com/office/powerpoint/2010/main" val="783902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CF33A7B1-431A-4295-8717-F5FA1FBC5D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39" y="81000"/>
            <a:ext cx="6120000" cy="3348000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BA4DAEE3-EE1C-4C92-A019-AC81B7ECCC7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39" y="3429000"/>
            <a:ext cx="6120000" cy="334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A62AF-26D9-4F92-854B-029AD2C3C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888" y="3713585"/>
            <a:ext cx="1214730" cy="5257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32EBE-3AFE-472A-AFFE-2EC2A54B1FF0}"/>
              </a:ext>
            </a:extLst>
          </p:cNvPr>
          <p:cNvSpPr txBox="1"/>
          <p:nvPr/>
        </p:nvSpPr>
        <p:spPr>
          <a:xfrm>
            <a:off x="4600663" y="326572"/>
            <a:ext cx="1175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rbg pictures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4C25B4-11D8-4DB9-8BD2-88D231B17D75}"/>
              </a:ext>
            </a:extLst>
          </p:cNvPr>
          <p:cNvSpPr txBox="1"/>
          <p:nvPr/>
        </p:nvSpPr>
        <p:spPr>
          <a:xfrm>
            <a:off x="4319433" y="3713585"/>
            <a:ext cx="1827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segmented pictures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05436-F4DE-45B8-8757-A2C602969EC0}"/>
              </a:ext>
            </a:extLst>
          </p:cNvPr>
          <p:cNvSpPr txBox="1"/>
          <p:nvPr/>
        </p:nvSpPr>
        <p:spPr>
          <a:xfrm>
            <a:off x="9211824" y="6197355"/>
            <a:ext cx="30697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0" i="0">
                <a:effectLst/>
                <a:latin typeface="Courier New" panose="02070309020205020404" pitchFamily="49" charset="0"/>
              </a:rPr>
              <a:t>Final model -&gt; mae: 0.284, mse: 0.119, loss: 0.119</a:t>
            </a:r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228864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Enrique Alcalde</dc:creator>
  <cp:lastModifiedBy>Enrique Alcalde</cp:lastModifiedBy>
  <cp:revision>17</cp:revision>
  <dcterms:created xsi:type="dcterms:W3CDTF">2021-03-17T21:08:35Z</dcterms:created>
  <dcterms:modified xsi:type="dcterms:W3CDTF">2021-03-21T09:44:11Z</dcterms:modified>
</cp:coreProperties>
</file>